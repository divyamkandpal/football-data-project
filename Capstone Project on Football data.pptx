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sldIdLst>
    <p:sldId id="256" r:id="rId2"/>
    <p:sldId id="257" r:id="rId3"/>
    <p:sldId id="274" r:id="rId4"/>
    <p:sldId id="273" r:id="rId5"/>
    <p:sldId id="276"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5" r:id="rId21"/>
    <p:sldId id="272"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2207455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143813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1038318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DE3484-E452-44AA-9350-74FEE955EF1C}"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1766440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DE3484-E452-44AA-9350-74FEE955EF1C}" type="datetimeFigureOut">
              <a:rPr lang="en-IN" smtClean="0"/>
              <a:t>23-09-2024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3775320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3018323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3524753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3658420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DE3484-E452-44AA-9350-74FEE955EF1C}"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3302855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DE3484-E452-44AA-9350-74FEE955EF1C}"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3232261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1704059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215651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2307188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198766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2420876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20923219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DE3484-E452-44AA-9350-74FEE955EF1C}"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0FF462-77E5-450A-A582-4995E2180B8A}" type="slidenum">
              <a:rPr lang="en-IN" smtClean="0"/>
              <a:t>‹#›</a:t>
            </a:fld>
            <a:endParaRPr lang="en-IN"/>
          </a:p>
        </p:txBody>
      </p:sp>
    </p:spTree>
    <p:extLst>
      <p:ext uri="{BB962C8B-B14F-4D97-AF65-F5344CB8AC3E}">
        <p14:creationId xmlns:p14="http://schemas.microsoft.com/office/powerpoint/2010/main" val="396012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5DE3484-E452-44AA-9350-74FEE955EF1C}" type="datetimeFigureOut">
              <a:rPr lang="en-IN" smtClean="0"/>
              <a:t>23-09-2024</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50FF462-77E5-450A-A582-4995E2180B8A}" type="slidenum">
              <a:rPr lang="en-IN" smtClean="0"/>
              <a:t>‹#›</a:t>
            </a:fld>
            <a:endParaRPr lang="en-IN"/>
          </a:p>
        </p:txBody>
      </p:sp>
    </p:spTree>
    <p:extLst>
      <p:ext uri="{BB962C8B-B14F-4D97-AF65-F5344CB8AC3E}">
        <p14:creationId xmlns:p14="http://schemas.microsoft.com/office/powerpoint/2010/main" val="1133180233"/>
      </p:ext>
    </p:extLst>
  </p:cSld>
  <p:clrMap bg1="dk1" tx1="lt1" bg2="dk2" tx2="lt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AC8714F-9BEB-5492-1D90-DC262B46791D}"/>
              </a:ext>
            </a:extLst>
          </p:cNvPr>
          <p:cNvSpPr>
            <a:spLocks noGrp="1" noChangeArrowheads="1"/>
          </p:cNvSpPr>
          <p:nvPr>
            <p:ph type="ctrTitle"/>
          </p:nvPr>
        </p:nvSpPr>
        <p:spPr bwMode="auto">
          <a:xfrm>
            <a:off x="1772239" y="2225609"/>
            <a:ext cx="864752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Capstone Project on Football data</a:t>
            </a:r>
            <a:br>
              <a:rPr kumimoji="0" lang="en-US" altLang="en-US" sz="2800" b="0" i="0" u="none" strike="noStrike" cap="none" normalizeH="0" baseline="0" dirty="0">
                <a:ln>
                  <a:noFill/>
                </a:ln>
                <a:solidFill>
                  <a:schemeClr val="tx1"/>
                </a:solidFill>
                <a:effectLst/>
                <a:latin typeface="Arial" panose="020B0604020202020204" pitchFamily="34" charset="0"/>
              </a:rPr>
            </a:b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EF7EA36A-9547-E1B4-FEFA-5A5452508819}"/>
              </a:ext>
            </a:extLst>
          </p:cNvPr>
          <p:cNvSpPr>
            <a:spLocks noGrp="1" noChangeArrowheads="1"/>
          </p:cNvSpPr>
          <p:nvPr>
            <p:ph type="subTitle" idx="1"/>
          </p:nvPr>
        </p:nvSpPr>
        <p:spPr bwMode="auto">
          <a:xfrm>
            <a:off x="7296346" y="4710956"/>
            <a:ext cx="436461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Name: Mr. Divyam </a:t>
            </a:r>
            <a:r>
              <a:rPr lang="en-US" altLang="en-US" sz="1800" dirty="0">
                <a:solidFill>
                  <a:schemeClr val="tx1"/>
                </a:solidFill>
              </a:rPr>
              <a:t>K</a:t>
            </a:r>
            <a:r>
              <a:rPr kumimoji="0" lang="en-US" altLang="en-US" sz="1800" b="0" i="0" u="none" strike="noStrike" cap="none" normalizeH="0" baseline="0" dirty="0">
                <a:ln>
                  <a:noFill/>
                </a:ln>
                <a:solidFill>
                  <a:schemeClr val="tx1"/>
                </a:solidFill>
                <a:effectLst/>
              </a:rPr>
              <a:t>andpal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Enrolment Number: </a:t>
            </a:r>
            <a:r>
              <a:rPr lang="en-IN" sz="1600" b="0" i="0" dirty="0">
                <a:solidFill>
                  <a:schemeClr val="tx1"/>
                </a:solidFill>
                <a:effectLst/>
              </a:rPr>
              <a:t>EN12025082260</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Batch Code: DA326S32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Mentor: Mrs</a:t>
            </a:r>
            <a:r>
              <a:rPr lang="en-US" altLang="en-US" sz="1800" dirty="0">
                <a:solidFill>
                  <a:schemeClr val="tx1"/>
                </a:solidFill>
              </a:rPr>
              <a:t>. Komilla Bhatia </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851318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86A9E1-19BC-6416-1935-0B5EFE4D1D9D}"/>
              </a:ext>
            </a:extLst>
          </p:cNvPr>
          <p:cNvSpPr>
            <a:spLocks noGrp="1"/>
          </p:cNvSpPr>
          <p:nvPr>
            <p:ph idx="1"/>
          </p:nvPr>
        </p:nvSpPr>
        <p:spPr>
          <a:xfrm>
            <a:off x="942680" y="113122"/>
            <a:ext cx="9473939" cy="6424366"/>
          </a:xfrm>
        </p:spPr>
        <p:txBody>
          <a:bodyPr>
            <a:noAutofit/>
          </a:bodyPr>
          <a:lstStyle/>
          <a:p>
            <a:pPr marL="0" indent="0" algn="ctr">
              <a:buNone/>
            </a:pPr>
            <a:r>
              <a:rPr lang="en-IN" b="1" dirty="0"/>
              <a:t>Areas of Interest</a:t>
            </a:r>
            <a:endParaRPr lang="en-IN"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1600" b="1" dirty="0">
                <a:latin typeface="+mn-lt"/>
                <a:ea typeface="Calibri" panose="020F0502020204030204" pitchFamily="34" charset="0"/>
                <a:cs typeface="Calibri" panose="020F0502020204030204" pitchFamily="34" charset="0"/>
              </a:rPr>
              <a:t>1. Performance Analysis</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identify and track key performance indicators (KPIs) that directly influence team success, such as goal-scoring efficiency and match attendance, enabling clubs to enhance team performance.</a:t>
            </a:r>
          </a:p>
          <a:p>
            <a:pPr marL="0" indent="0">
              <a:buNone/>
            </a:pPr>
            <a:r>
              <a:rPr lang="en-IN" sz="1600" b="1" dirty="0">
                <a:latin typeface="+mn-lt"/>
                <a:ea typeface="Calibri" panose="020F0502020204030204" pitchFamily="34" charset="0"/>
                <a:cs typeface="Calibri" panose="020F0502020204030204" pitchFamily="34" charset="0"/>
              </a:rPr>
              <a:t>2. Player Profile and Market Value</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evaluate the factors influencing a player’s market value, such as nationality and team association, and optimize player acquisition or retention based on this analysis.</a:t>
            </a:r>
          </a:p>
          <a:p>
            <a:pPr marL="0" indent="0">
              <a:buNone/>
            </a:pPr>
            <a:r>
              <a:rPr lang="en-IN" sz="1600" b="1" dirty="0">
                <a:latin typeface="+mn-lt"/>
                <a:ea typeface="Calibri" panose="020F0502020204030204" pitchFamily="34" charset="0"/>
                <a:cs typeface="Calibri" panose="020F0502020204030204" pitchFamily="34" charset="0"/>
              </a:rPr>
              <a:t>3. Team Comparison</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compare team performances based on key statistics, such as goal-scoring patterns and market value, in order to improve team composition, match strategies, and financial planning.</a:t>
            </a:r>
          </a:p>
          <a:p>
            <a:pPr marL="0" indent="0">
              <a:buNone/>
            </a:pPr>
            <a:r>
              <a:rPr lang="en-IN" sz="1600" b="1" dirty="0">
                <a:latin typeface="+mn-lt"/>
                <a:ea typeface="Calibri" panose="020F0502020204030204" pitchFamily="34" charset="0"/>
                <a:cs typeface="Calibri" panose="020F0502020204030204" pitchFamily="34" charset="0"/>
              </a:rPr>
              <a:t>4. Attendance and Stadium Analysis</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analyze stadium attendance patterns and how they relate to home team performance, driving strategies to increase attendance through performance improvements and fan engagement initiatives.</a:t>
            </a:r>
          </a:p>
          <a:p>
            <a:pPr marL="0" indent="0">
              <a:buNone/>
            </a:pPr>
            <a:r>
              <a:rPr lang="en-IN" sz="1600" b="1" dirty="0">
                <a:latin typeface="+mn-lt"/>
                <a:ea typeface="Calibri" panose="020F0502020204030204" pitchFamily="34" charset="0"/>
                <a:cs typeface="Calibri" panose="020F0502020204030204" pitchFamily="34" charset="0"/>
              </a:rPr>
              <a:t>5. Referee Analysis</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analyze the impact of referees on match outcomes, particularly in terms of disciplinary actions (yellow/red cards), to better understand game control and referee consistency.</a:t>
            </a:r>
          </a:p>
          <a:p>
            <a:pPr marL="0" indent="0">
              <a:buNone/>
            </a:pPr>
            <a:endParaRPr lang="en-IN" sz="1600" dirty="0"/>
          </a:p>
        </p:txBody>
      </p:sp>
    </p:spTree>
    <p:extLst>
      <p:ext uri="{BB962C8B-B14F-4D97-AF65-F5344CB8AC3E}">
        <p14:creationId xmlns:p14="http://schemas.microsoft.com/office/powerpoint/2010/main" val="2102003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2959C7-E985-9C33-24F5-8BB577F5E725}"/>
              </a:ext>
            </a:extLst>
          </p:cNvPr>
          <p:cNvSpPr>
            <a:spLocks noGrp="1"/>
          </p:cNvSpPr>
          <p:nvPr>
            <p:ph idx="1"/>
          </p:nvPr>
        </p:nvSpPr>
        <p:spPr>
          <a:xfrm>
            <a:off x="1056178" y="358218"/>
            <a:ext cx="8946541" cy="6070862"/>
          </a:xfrm>
        </p:spPr>
        <p:txBody>
          <a:bodyPr>
            <a:noAutofit/>
          </a:bodyPr>
          <a:lstStyle/>
          <a:p>
            <a:pPr marL="0" indent="0">
              <a:buNone/>
            </a:pPr>
            <a:r>
              <a:rPr lang="en-IN" sz="1600" b="1" dirty="0">
                <a:latin typeface="+mn-lt"/>
                <a:ea typeface="Calibri" panose="020F0502020204030204" pitchFamily="34" charset="0"/>
                <a:cs typeface="Calibri" panose="020F0502020204030204" pitchFamily="34" charset="0"/>
              </a:rPr>
              <a:t>6. Substitution Patterns</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optimize team substitutions by analyzing the timing and impact of substitutions on match outcomes, such as scoring or conceding goals, and identifying which players are more effective post-substitution.</a:t>
            </a:r>
          </a:p>
          <a:p>
            <a:pPr marL="0" indent="0">
              <a:buNone/>
            </a:pPr>
            <a:r>
              <a:rPr lang="en-IN" sz="1600" b="1" dirty="0">
                <a:latin typeface="+mn-lt"/>
                <a:ea typeface="Calibri" panose="020F0502020204030204" pitchFamily="34" charset="0"/>
                <a:cs typeface="Calibri" panose="020F0502020204030204" pitchFamily="34" charset="0"/>
              </a:rPr>
              <a:t>7. Event Analysis</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examine match events (e.g., goals, fouls, corners) and their correlation with game outcomes, helping teams better prepare for matches by analyzing event-based patterns that can be used in strategy formulation.</a:t>
            </a:r>
          </a:p>
          <a:p>
            <a:pPr marL="0" indent="0">
              <a:buNone/>
            </a:pPr>
            <a:r>
              <a:rPr lang="en-IN" sz="1600" b="1" dirty="0">
                <a:latin typeface="+mn-lt"/>
                <a:ea typeface="Calibri" panose="020F0502020204030204" pitchFamily="34" charset="0"/>
                <a:cs typeface="Calibri" panose="020F0502020204030204" pitchFamily="34" charset="0"/>
              </a:rPr>
              <a:t>8. Competition Analysis</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analyze team performances across different competitions and assess trends in scoring and match outcomes to help teams develop strategies for varying competition levels.</a:t>
            </a:r>
          </a:p>
          <a:p>
            <a:pPr marL="0" indent="0">
              <a:buNone/>
            </a:pPr>
            <a:r>
              <a:rPr lang="en-IN" sz="1600" b="1" dirty="0">
                <a:latin typeface="+mn-lt"/>
                <a:ea typeface="Calibri" panose="020F0502020204030204" pitchFamily="34" charset="0"/>
                <a:cs typeface="Calibri" panose="020F0502020204030204" pitchFamily="34" charset="0"/>
              </a:rPr>
              <a:t>9. Player Attributes and Demographics</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assess how player attributes like position, nationality, and age affect market value and performance, guiding recruitment and talent management decisions for optimal team building.</a:t>
            </a:r>
          </a:p>
          <a:p>
            <a:pPr marL="0" indent="0">
              <a:buNone/>
            </a:pPr>
            <a:r>
              <a:rPr lang="en-IN" sz="1600" b="1" dirty="0">
                <a:latin typeface="+mn-lt"/>
                <a:ea typeface="Calibri" panose="020F0502020204030204" pitchFamily="34" charset="0"/>
                <a:cs typeface="Calibri" panose="020F0502020204030204" pitchFamily="34" charset="0"/>
              </a:rPr>
              <a:t>10. Contract Management</a:t>
            </a:r>
          </a:p>
          <a:p>
            <a:pPr marL="0" indent="0">
              <a:buNone/>
            </a:pPr>
            <a:r>
              <a:rPr lang="en-IN" sz="1600" b="1" dirty="0">
                <a:latin typeface="+mn-lt"/>
                <a:ea typeface="Calibri" panose="020F0502020204030204" pitchFamily="34" charset="0"/>
                <a:cs typeface="Calibri" panose="020F0502020204030204" pitchFamily="34" charset="0"/>
              </a:rPr>
              <a:t>Business Objective</a:t>
            </a:r>
            <a:r>
              <a:rPr lang="en-IN" sz="1600" dirty="0">
                <a:latin typeface="+mn-lt"/>
                <a:ea typeface="Calibri" panose="020F0502020204030204" pitchFamily="34" charset="0"/>
                <a:cs typeface="Calibri" panose="020F0502020204030204" pitchFamily="34" charset="0"/>
              </a:rPr>
              <a:t>: To manage player contracts effectively by analyzing contract expiration timelines and performance trends, ensuring timely contract renewals and avoiding financial overcommitments to declining players.</a:t>
            </a:r>
          </a:p>
          <a:p>
            <a:endParaRPr lang="en-IN" sz="1600" dirty="0"/>
          </a:p>
        </p:txBody>
      </p:sp>
    </p:spTree>
    <p:extLst>
      <p:ext uri="{BB962C8B-B14F-4D97-AF65-F5344CB8AC3E}">
        <p14:creationId xmlns:p14="http://schemas.microsoft.com/office/powerpoint/2010/main" val="3759629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B6B8-834B-AF17-F71C-1EA2A5C35ACD}"/>
              </a:ext>
            </a:extLst>
          </p:cNvPr>
          <p:cNvSpPr>
            <a:spLocks noGrp="1"/>
          </p:cNvSpPr>
          <p:nvPr>
            <p:ph type="title"/>
          </p:nvPr>
        </p:nvSpPr>
        <p:spPr>
          <a:xfrm>
            <a:off x="646111" y="452718"/>
            <a:ext cx="9404723" cy="640791"/>
          </a:xfrm>
        </p:spPr>
        <p:txBody>
          <a:bodyPr/>
          <a:lstStyle/>
          <a:p>
            <a:r>
              <a:rPr lang="en-IN" sz="2200" b="1" dirty="0"/>
              <a:t>Problem Statement of the Football Data Capstone Project </a:t>
            </a:r>
          </a:p>
        </p:txBody>
      </p:sp>
      <p:sp>
        <p:nvSpPr>
          <p:cNvPr id="3" name="Content Placeholder 2">
            <a:extLst>
              <a:ext uri="{FF2B5EF4-FFF2-40B4-BE49-F238E27FC236}">
                <a16:creationId xmlns:a16="http://schemas.microsoft.com/office/drawing/2014/main" id="{0ABDA98C-DB91-B180-B9C3-38AD71D84402}"/>
              </a:ext>
            </a:extLst>
          </p:cNvPr>
          <p:cNvSpPr>
            <a:spLocks noGrp="1"/>
          </p:cNvSpPr>
          <p:nvPr>
            <p:ph idx="1"/>
          </p:nvPr>
        </p:nvSpPr>
        <p:spPr/>
        <p:txBody>
          <a:bodyPr/>
          <a:lstStyle/>
          <a:p>
            <a:pPr marL="0" indent="0" algn="just">
              <a:buNone/>
            </a:pPr>
            <a:r>
              <a:rPr lang="en-IN" dirty="0"/>
              <a:t>The Football Data Capstone Project uses data to help football teams make smarter decisions. It looks at player performance, market value, and team strategies by analyzing key factors like goals, minutes played, and match attendance. The project uses models to predict things like who might become team captain, how much a player is worth, and what events will happen during a game. It also helps with managing player contracts and improving fan attendance. Overall, the project shows how data can improve decisions, helping teams perform better and make the most of their resources.</a:t>
            </a:r>
          </a:p>
        </p:txBody>
      </p:sp>
    </p:spTree>
    <p:extLst>
      <p:ext uri="{BB962C8B-B14F-4D97-AF65-F5344CB8AC3E}">
        <p14:creationId xmlns:p14="http://schemas.microsoft.com/office/powerpoint/2010/main" val="3453858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E8EA-BE43-B642-5476-41F93437F70E}"/>
              </a:ext>
            </a:extLst>
          </p:cNvPr>
          <p:cNvSpPr>
            <a:spLocks noGrp="1"/>
          </p:cNvSpPr>
          <p:nvPr>
            <p:ph type="title"/>
          </p:nvPr>
        </p:nvSpPr>
        <p:spPr/>
        <p:txBody>
          <a:bodyPr/>
          <a:lstStyle/>
          <a:p>
            <a:r>
              <a:rPr lang="en-IN" dirty="0"/>
              <a:t>Tools used </a:t>
            </a:r>
          </a:p>
        </p:txBody>
      </p:sp>
      <p:sp>
        <p:nvSpPr>
          <p:cNvPr id="3" name="Content Placeholder 2">
            <a:extLst>
              <a:ext uri="{FF2B5EF4-FFF2-40B4-BE49-F238E27FC236}">
                <a16:creationId xmlns:a16="http://schemas.microsoft.com/office/drawing/2014/main" id="{6CB43A05-9038-F57D-D23F-7AB2BC8429AC}"/>
              </a:ext>
            </a:extLst>
          </p:cNvPr>
          <p:cNvSpPr>
            <a:spLocks noGrp="1"/>
          </p:cNvSpPr>
          <p:nvPr>
            <p:ph idx="1"/>
          </p:nvPr>
        </p:nvSpPr>
        <p:spPr>
          <a:xfrm>
            <a:off x="1103312" y="3553905"/>
            <a:ext cx="8946541" cy="2694494"/>
          </a:xfrm>
        </p:spPr>
        <p:txBody>
          <a:bodyPr/>
          <a:lstStyle/>
          <a:p>
            <a:r>
              <a:rPr lang="en-IN" dirty="0"/>
              <a:t>Jupyter notebook – I have used python for merging the tables, cleaning and treating missing value treatment. All the ML models have been made here.</a:t>
            </a:r>
          </a:p>
          <a:p>
            <a:r>
              <a:rPr lang="en-IN" dirty="0"/>
              <a:t>Tableau – I have used Tableau for creating various charts for data visualization and interpreting the data.</a:t>
            </a:r>
          </a:p>
        </p:txBody>
      </p:sp>
    </p:spTree>
    <p:extLst>
      <p:ext uri="{BB962C8B-B14F-4D97-AF65-F5344CB8AC3E}">
        <p14:creationId xmlns:p14="http://schemas.microsoft.com/office/powerpoint/2010/main" val="3534025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FEFDD3-4341-C2A8-E5A5-0A7A86BF30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095" y="94268"/>
            <a:ext cx="11679811" cy="6608190"/>
          </a:xfrm>
        </p:spPr>
      </p:pic>
    </p:spTree>
    <p:extLst>
      <p:ext uri="{BB962C8B-B14F-4D97-AF65-F5344CB8AC3E}">
        <p14:creationId xmlns:p14="http://schemas.microsoft.com/office/powerpoint/2010/main" val="3086916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4E69C079-9FFB-DD17-9E4B-80FE2F46239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22912"/>
          <a:stretch/>
        </p:blipFill>
        <p:spPr>
          <a:xfrm>
            <a:off x="1396739" y="188536"/>
            <a:ext cx="9398523" cy="6542202"/>
          </a:xfrm>
        </p:spPr>
      </p:pic>
    </p:spTree>
    <p:extLst>
      <p:ext uri="{BB962C8B-B14F-4D97-AF65-F5344CB8AC3E}">
        <p14:creationId xmlns:p14="http://schemas.microsoft.com/office/powerpoint/2010/main" val="1166534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C9AAB9-7DED-9EF7-557A-C6080ACC4D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125" y="131975"/>
            <a:ext cx="12009750" cy="6645897"/>
          </a:xfrm>
        </p:spPr>
      </p:pic>
    </p:spTree>
    <p:extLst>
      <p:ext uri="{BB962C8B-B14F-4D97-AF65-F5344CB8AC3E}">
        <p14:creationId xmlns:p14="http://schemas.microsoft.com/office/powerpoint/2010/main" val="4157597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CF6ABF-C9E7-138F-1692-5C48E36481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5464" y="122548"/>
            <a:ext cx="9521072" cy="6627044"/>
          </a:xfrm>
        </p:spPr>
      </p:pic>
      <p:pic>
        <p:nvPicPr>
          <p:cNvPr id="3" name="Picture 2">
            <a:extLst>
              <a:ext uri="{FF2B5EF4-FFF2-40B4-BE49-F238E27FC236}">
                <a16:creationId xmlns:a16="http://schemas.microsoft.com/office/drawing/2014/main" id="{D20A32CB-17A6-28D6-F74A-0D63986A91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0879" y="3428999"/>
            <a:ext cx="6366234" cy="3207471"/>
          </a:xfrm>
          <a:prstGeom prst="rect">
            <a:avLst/>
          </a:prstGeom>
        </p:spPr>
      </p:pic>
    </p:spTree>
    <p:extLst>
      <p:ext uri="{BB962C8B-B14F-4D97-AF65-F5344CB8AC3E}">
        <p14:creationId xmlns:p14="http://schemas.microsoft.com/office/powerpoint/2010/main" val="1321492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F0067D-F3B3-C2FC-7B82-5E975AFD9C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99" y="94268"/>
            <a:ext cx="12028602" cy="6683604"/>
          </a:xfrm>
        </p:spPr>
      </p:pic>
    </p:spTree>
    <p:extLst>
      <p:ext uri="{BB962C8B-B14F-4D97-AF65-F5344CB8AC3E}">
        <p14:creationId xmlns:p14="http://schemas.microsoft.com/office/powerpoint/2010/main" val="397320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6FFA5A-7135-8B3E-9288-CE56EE019F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266" y="103694"/>
            <a:ext cx="11981468" cy="6655325"/>
          </a:xfrm>
        </p:spPr>
      </p:pic>
    </p:spTree>
    <p:extLst>
      <p:ext uri="{BB962C8B-B14F-4D97-AF65-F5344CB8AC3E}">
        <p14:creationId xmlns:p14="http://schemas.microsoft.com/office/powerpoint/2010/main" val="2195857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771D98C-EC92-A42B-11B5-EFEB0B8528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693" y="75414"/>
            <a:ext cx="11962614" cy="6702458"/>
          </a:xfrm>
        </p:spPr>
      </p:pic>
      <p:pic>
        <p:nvPicPr>
          <p:cNvPr id="3" name="Picture 2">
            <a:extLst>
              <a:ext uri="{FF2B5EF4-FFF2-40B4-BE49-F238E27FC236}">
                <a16:creationId xmlns:a16="http://schemas.microsoft.com/office/drawing/2014/main" id="{CDD9C496-7F4C-4CF3-AAB2-67EC29813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659" y="490195"/>
            <a:ext cx="6165130" cy="2809186"/>
          </a:xfrm>
          <a:prstGeom prst="rect">
            <a:avLst/>
          </a:prstGeom>
        </p:spPr>
      </p:pic>
    </p:spTree>
    <p:extLst>
      <p:ext uri="{BB962C8B-B14F-4D97-AF65-F5344CB8AC3E}">
        <p14:creationId xmlns:p14="http://schemas.microsoft.com/office/powerpoint/2010/main" val="2463532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2A85C2F-D810-8243-F5C4-7A4E615386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553" y="75414"/>
            <a:ext cx="11990895" cy="6674178"/>
          </a:xfrm>
        </p:spPr>
      </p:pic>
    </p:spTree>
    <p:extLst>
      <p:ext uri="{BB962C8B-B14F-4D97-AF65-F5344CB8AC3E}">
        <p14:creationId xmlns:p14="http://schemas.microsoft.com/office/powerpoint/2010/main" val="3034254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1A731F-5D72-63A4-6085-2D533DF772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553" y="75414"/>
            <a:ext cx="11990895" cy="6664751"/>
          </a:xfrm>
        </p:spPr>
      </p:pic>
    </p:spTree>
    <p:extLst>
      <p:ext uri="{BB962C8B-B14F-4D97-AF65-F5344CB8AC3E}">
        <p14:creationId xmlns:p14="http://schemas.microsoft.com/office/powerpoint/2010/main" val="4195448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790F-C76B-973B-2C94-0F386DE8688D}"/>
              </a:ext>
            </a:extLst>
          </p:cNvPr>
          <p:cNvSpPr>
            <a:spLocks noGrp="1"/>
          </p:cNvSpPr>
          <p:nvPr>
            <p:ph type="title"/>
          </p:nvPr>
        </p:nvSpPr>
        <p:spPr>
          <a:xfrm>
            <a:off x="443060" y="292231"/>
            <a:ext cx="9851010" cy="699429"/>
          </a:xfrm>
        </p:spPr>
        <p:txBody>
          <a:bodyPr>
            <a:noAutofit/>
          </a:bodyPr>
          <a:lstStyle/>
          <a:p>
            <a:r>
              <a:rPr lang="en-IN" sz="1600" dirty="0">
                <a:solidFill>
                  <a:schemeClr val="tx1"/>
                </a:solidFill>
                <a:cs typeface="Arial" panose="020B0604020202020204" pitchFamily="34" charset="0"/>
              </a:rPr>
              <a:t>Ques. Can we predict whether a player is the team captain based on their playing position, number of minutes played, and market value?</a:t>
            </a:r>
            <a:br>
              <a:rPr lang="en-IN" sz="1600" dirty="0"/>
            </a:br>
            <a:endParaRPr lang="en-IN" sz="1600" dirty="0"/>
          </a:p>
        </p:txBody>
      </p:sp>
      <p:sp>
        <p:nvSpPr>
          <p:cNvPr id="4" name="Rectangle 1">
            <a:extLst>
              <a:ext uri="{FF2B5EF4-FFF2-40B4-BE49-F238E27FC236}">
                <a16:creationId xmlns:a16="http://schemas.microsoft.com/office/drawing/2014/main" id="{321C13B7-2AA0-C518-1510-EED88BB5F0D6}"/>
              </a:ext>
            </a:extLst>
          </p:cNvPr>
          <p:cNvSpPr>
            <a:spLocks noGrp="1" noChangeArrowheads="1"/>
          </p:cNvSpPr>
          <p:nvPr>
            <p:ph idx="1"/>
          </p:nvPr>
        </p:nvSpPr>
        <p:spPr bwMode="auto">
          <a:xfrm>
            <a:off x="443059" y="1241254"/>
            <a:ext cx="9851011" cy="4226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500" i="0" u="none" strike="noStrike" cap="none" normalizeH="0" baseline="0" dirty="0">
              <a:ln>
                <a:noFill/>
              </a:ln>
              <a:solidFill>
                <a:schemeClr val="tx2"/>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lang="en-IN" sz="1500" dirty="0">
                <a:latin typeface="+mn-lt"/>
              </a:rPr>
              <a:t>The model uses Logistic Regression, a statistical method for predicting the probability of an event occurring.</a:t>
            </a:r>
            <a:endParaRPr lang="en-US" altLang="en-US" sz="1500" dirty="0">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500" dirty="0">
              <a:latin typeface="+mn-l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dirty="0">
                <a:ln>
                  <a:noFill/>
                </a:ln>
                <a:effectLst/>
                <a:latin typeface="+mn-lt"/>
              </a:rPr>
              <a:t>Model Details</a:t>
            </a:r>
          </a:p>
          <a:p>
            <a:pPr marL="0" marR="0" lvl="0" indent="0"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effectLst/>
                <a:latin typeface="+mn-lt"/>
              </a:rPr>
              <a:t>Features </a:t>
            </a:r>
            <a:r>
              <a:rPr lang="en-US" altLang="en-US" sz="1500" b="1" dirty="0">
                <a:latin typeface="+mn-lt"/>
              </a:rPr>
              <a:t>selection: </a:t>
            </a:r>
            <a:r>
              <a:rPr kumimoji="0" lang="en-US" altLang="en-US" sz="1500" i="0" u="none" strike="noStrike" cap="none" normalizeH="0" baseline="0" dirty="0">
                <a:ln>
                  <a:noFill/>
                </a:ln>
                <a:effectLst/>
                <a:latin typeface="+mn-lt"/>
              </a:rPr>
              <a:t>position_x</a:t>
            </a:r>
            <a:r>
              <a:rPr lang="en-US" altLang="en-US" sz="1500" dirty="0">
                <a:latin typeface="+mn-lt"/>
              </a:rPr>
              <a:t>, </a:t>
            </a:r>
            <a:r>
              <a:rPr kumimoji="0" lang="en-US" altLang="en-US" sz="1500" i="0" u="none" strike="noStrike" cap="none" normalizeH="0" baseline="0" dirty="0">
                <a:ln>
                  <a:noFill/>
                </a:ln>
                <a:effectLst/>
                <a:latin typeface="+mn-lt"/>
              </a:rPr>
              <a:t>minutes_played</a:t>
            </a:r>
            <a:r>
              <a:rPr lang="en-US" altLang="en-US" sz="1500" dirty="0">
                <a:latin typeface="+mn-lt"/>
              </a:rPr>
              <a:t>, </a:t>
            </a:r>
            <a:r>
              <a:rPr kumimoji="0" lang="en-US" altLang="en-US" sz="1500" i="0" u="none" strike="noStrike" cap="none" normalizeH="0" baseline="0" dirty="0">
                <a:ln>
                  <a:noFill/>
                </a:ln>
                <a:effectLst/>
                <a:latin typeface="+mn-lt"/>
              </a:rPr>
              <a:t>market_value_in_eur</a:t>
            </a:r>
            <a:endParaRPr lang="en-US" altLang="en-US" sz="1500" dirty="0">
              <a:latin typeface="+mn-lt"/>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effectLst/>
                <a:latin typeface="+mn-lt"/>
              </a:rPr>
              <a:t>Target Variable: </a:t>
            </a:r>
            <a:r>
              <a:rPr kumimoji="0" lang="en-US" altLang="en-US" sz="1500" i="0" u="none" strike="noStrike" cap="none" normalizeH="0" baseline="0" dirty="0">
                <a:ln>
                  <a:noFill/>
                </a:ln>
                <a:effectLst/>
                <a:latin typeface="+mn-lt"/>
              </a:rPr>
              <a:t>team_captain</a:t>
            </a:r>
          </a:p>
          <a:p>
            <a:pPr marL="0" marR="0" lvl="0" indent="0" algn="just" defTabSz="914400" rtl="0" eaLnBrk="0" fontAlgn="base" latinLnBrk="0" hangingPunct="0">
              <a:lnSpc>
                <a:spcPct val="100000"/>
              </a:lnSpc>
              <a:spcBef>
                <a:spcPct val="0"/>
              </a:spcBef>
              <a:spcAft>
                <a:spcPct val="0"/>
              </a:spcAft>
              <a:buClrTx/>
              <a:buSzTx/>
              <a:buNone/>
              <a:tabLst/>
            </a:pPr>
            <a:endParaRPr lang="en-US" altLang="en-US" sz="1500" b="0" dirty="0">
              <a:latin typeface="+mn-lt"/>
            </a:endParaRPr>
          </a:p>
          <a:p>
            <a:pPr marL="0" indent="0" algn="just">
              <a:buNone/>
            </a:pPr>
            <a:r>
              <a:rPr lang="en-IN" sz="1500" b="1" dirty="0">
                <a:latin typeface="+mn-lt"/>
              </a:rPr>
              <a:t>Purpose:</a:t>
            </a:r>
          </a:p>
          <a:p>
            <a:pPr marL="0" indent="0">
              <a:buNone/>
            </a:pPr>
            <a:r>
              <a:rPr lang="en-IN" sz="1400" dirty="0">
                <a:latin typeface="+mn-lt"/>
              </a:rPr>
              <a:t>The purpose of the Logistic Regression model in this context is to predict whether a player is the team captain based on their playing position, number of minutes played, and market value. This information can be valuable for various stakeholders, including Team Managers, Sports Analysts, Sports Betting.</a:t>
            </a:r>
            <a:endParaRPr lang="en-IN" sz="1500" dirty="0">
              <a:latin typeface="+mn-lt"/>
            </a:endParaRPr>
          </a:p>
          <a:p>
            <a:pPr marL="0" marR="0" lvl="0" indent="0" algn="just" defTabSz="914400" rtl="0" eaLnBrk="0" fontAlgn="base" latinLnBrk="0" hangingPunct="0">
              <a:lnSpc>
                <a:spcPct val="100000"/>
              </a:lnSpc>
              <a:spcBef>
                <a:spcPct val="0"/>
              </a:spcBef>
              <a:spcAft>
                <a:spcPct val="0"/>
              </a:spcAft>
              <a:buClrTx/>
              <a:buSzTx/>
              <a:buNone/>
              <a:tabLst/>
            </a:pPr>
            <a:endParaRPr lang="en-US" altLang="en-US" sz="1500" b="0" dirty="0">
              <a:solidFill>
                <a:schemeClr val="tx2"/>
              </a:solidFill>
              <a:latin typeface="+mn-lt"/>
            </a:endParaRPr>
          </a:p>
          <a:p>
            <a:pPr marL="0" marR="0" lvl="0" indent="0" algn="just" defTabSz="914400" rtl="0" eaLnBrk="0" fontAlgn="base" latinLnBrk="0" hangingPunct="0">
              <a:lnSpc>
                <a:spcPct val="100000"/>
              </a:lnSpc>
              <a:spcBef>
                <a:spcPct val="0"/>
              </a:spcBef>
              <a:spcAft>
                <a:spcPct val="0"/>
              </a:spcAft>
              <a:buClrTx/>
              <a:buSzTx/>
              <a:buNone/>
              <a:tabLst/>
            </a:pPr>
            <a:r>
              <a:rPr lang="en-US" altLang="en-US" sz="1500" b="1" dirty="0">
                <a:solidFill>
                  <a:schemeClr val="tx2"/>
                </a:solidFill>
                <a:latin typeface="+mn-lt"/>
              </a:rPr>
              <a:t>Conclusion:</a:t>
            </a:r>
          </a:p>
          <a:p>
            <a:pPr marL="0" marR="0" lvl="0" indent="0" algn="just" defTabSz="914400" rtl="0" eaLnBrk="0" fontAlgn="base" latinLnBrk="0" hangingPunct="0">
              <a:lnSpc>
                <a:spcPct val="100000"/>
              </a:lnSpc>
              <a:spcBef>
                <a:spcPct val="0"/>
              </a:spcBef>
              <a:spcAft>
                <a:spcPct val="0"/>
              </a:spcAft>
              <a:buClrTx/>
              <a:buSzTx/>
              <a:buNone/>
              <a:tabLst/>
            </a:pPr>
            <a:r>
              <a:rPr lang="en-IN" sz="1500" dirty="0">
                <a:latin typeface="+mn-lt"/>
              </a:rPr>
              <a:t>The logistic regression model appears to be a valuable tool for predicting team captains based on the given features. It can provide valuable insights for teams in areas such as player selection, contract negotiations, and team building.</a:t>
            </a:r>
          </a:p>
        </p:txBody>
      </p:sp>
    </p:spTree>
    <p:extLst>
      <p:ext uri="{BB962C8B-B14F-4D97-AF65-F5344CB8AC3E}">
        <p14:creationId xmlns:p14="http://schemas.microsoft.com/office/powerpoint/2010/main" val="2393343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20B2-9863-B21F-1062-CC0D5A2D82C8}"/>
              </a:ext>
            </a:extLst>
          </p:cNvPr>
          <p:cNvSpPr>
            <a:spLocks noGrp="1"/>
          </p:cNvSpPr>
          <p:nvPr>
            <p:ph type="title"/>
          </p:nvPr>
        </p:nvSpPr>
        <p:spPr>
          <a:xfrm>
            <a:off x="645131" y="428920"/>
            <a:ext cx="9404723" cy="753913"/>
          </a:xfrm>
        </p:spPr>
        <p:txBody>
          <a:bodyPr/>
          <a:lstStyle/>
          <a:p>
            <a:r>
              <a:rPr lang="en-IN" sz="1800" b="1" i="0" dirty="0">
                <a:effectLst/>
              </a:rPr>
              <a:t>Can we predict the type of event (e.g., goal, substitution) that occurs during a game based on match dynamics such as minute, player performance, and team?</a:t>
            </a:r>
            <a:br>
              <a:rPr lang="en-IN" sz="1800" b="1" i="0" dirty="0">
                <a:effectLst/>
                <a:latin typeface="system-ui"/>
              </a:rPr>
            </a:br>
            <a:endParaRPr lang="en-IN" sz="1800" dirty="0"/>
          </a:p>
        </p:txBody>
      </p:sp>
      <p:sp>
        <p:nvSpPr>
          <p:cNvPr id="3" name="Content Placeholder 2">
            <a:extLst>
              <a:ext uri="{FF2B5EF4-FFF2-40B4-BE49-F238E27FC236}">
                <a16:creationId xmlns:a16="http://schemas.microsoft.com/office/drawing/2014/main" id="{D900A763-24E0-1799-4BB0-7694D8732C21}"/>
              </a:ext>
            </a:extLst>
          </p:cNvPr>
          <p:cNvSpPr>
            <a:spLocks noGrp="1"/>
          </p:cNvSpPr>
          <p:nvPr>
            <p:ph idx="1"/>
          </p:nvPr>
        </p:nvSpPr>
        <p:spPr>
          <a:xfrm>
            <a:off x="645131" y="1701307"/>
            <a:ext cx="9404722" cy="4115031"/>
          </a:xfrm>
        </p:spPr>
        <p:txBody>
          <a:bodyPr>
            <a:normAutofit fontScale="92500" lnSpcReduction="10000"/>
          </a:bodyPr>
          <a:lstStyle/>
          <a:p>
            <a:pPr marL="0" marR="0" lvl="0" indent="0" defTabSz="914400" rtl="0" eaLnBrk="0" fontAlgn="base" latinLnBrk="0" hangingPunct="0">
              <a:lnSpc>
                <a:spcPct val="100000"/>
              </a:lnSpc>
              <a:spcBef>
                <a:spcPct val="0"/>
              </a:spcBef>
              <a:spcAft>
                <a:spcPct val="0"/>
              </a:spcAft>
              <a:buClrTx/>
              <a:buSzTx/>
              <a:buFontTx/>
              <a:buNone/>
              <a:tabLst/>
            </a:pPr>
            <a:r>
              <a:rPr lang="en-IN" sz="1600" dirty="0">
                <a:latin typeface="+mn-lt"/>
              </a:rPr>
              <a:t>The model used here is KNN Classifier.</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mn-lt"/>
              </a:rPr>
              <a:t>Model Details</a:t>
            </a:r>
          </a:p>
          <a:p>
            <a:pPr marL="0" marR="0" lvl="0" indent="0"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mn-lt"/>
              </a:rPr>
              <a:t>Features </a:t>
            </a:r>
            <a:r>
              <a:rPr lang="en-US" altLang="en-US" sz="1600" b="1" dirty="0">
                <a:latin typeface="+mn-lt"/>
              </a:rPr>
              <a:t>selection: </a:t>
            </a:r>
            <a:r>
              <a:rPr kumimoji="0" lang="en-IN" altLang="en-US" sz="1600" i="0" u="none" strike="noStrike" cap="none" normalizeH="0" baseline="0" dirty="0">
                <a:ln>
                  <a:noFill/>
                </a:ln>
                <a:effectLst/>
                <a:latin typeface="+mn-lt"/>
              </a:rPr>
              <a:t>minute, goals, assists, yellow cards, red cards, home club</a:t>
            </a:r>
            <a:r>
              <a:rPr lang="en-IN" altLang="en-US" sz="1600" dirty="0">
                <a:latin typeface="+mn-lt"/>
              </a:rPr>
              <a:t> </a:t>
            </a:r>
            <a:r>
              <a:rPr kumimoji="0" lang="en-IN" altLang="en-US" sz="1600" i="0" u="none" strike="noStrike" cap="none" normalizeH="0" baseline="0" dirty="0">
                <a:ln>
                  <a:noFill/>
                </a:ln>
                <a:effectLst/>
                <a:latin typeface="+mn-lt"/>
              </a:rPr>
              <a:t>goals</a:t>
            </a:r>
            <a:endParaRPr lang="en-US" altLang="en-US" sz="1600" dirty="0">
              <a:latin typeface="+mn-lt"/>
            </a:endParaRPr>
          </a:p>
          <a:p>
            <a:pPr marL="0" indent="0" defTabSz="914400" eaLnBrk="0" fontAlgn="base" hangingPunct="0">
              <a:spcBef>
                <a:spcPct val="0"/>
              </a:spcBef>
              <a:spcAft>
                <a:spcPct val="0"/>
              </a:spcAft>
              <a:buClrTx/>
              <a:buSzTx/>
              <a:buNone/>
            </a:pPr>
            <a:r>
              <a:rPr kumimoji="0" lang="en-US" altLang="en-US" sz="1600" b="1" i="0" u="none" strike="noStrike" cap="none" normalizeH="0" baseline="0" dirty="0">
                <a:ln>
                  <a:noFill/>
                </a:ln>
                <a:effectLst/>
                <a:latin typeface="+mn-lt"/>
              </a:rPr>
              <a:t>Target Variable: </a:t>
            </a:r>
            <a:r>
              <a:rPr kumimoji="0" lang="en-US" altLang="en-US" sz="1600" i="0" u="none" strike="noStrike" cap="none" normalizeH="0" baseline="0" dirty="0">
                <a:ln>
                  <a:noFill/>
                </a:ln>
                <a:effectLst/>
                <a:latin typeface="+mn-lt"/>
              </a:rPr>
              <a:t>type_x</a:t>
            </a:r>
          </a:p>
          <a:p>
            <a:pPr marL="0" indent="0" defTabSz="914400" eaLnBrk="0" fontAlgn="base" hangingPunct="0">
              <a:spcBef>
                <a:spcPct val="0"/>
              </a:spcBef>
              <a:spcAft>
                <a:spcPct val="0"/>
              </a:spcAft>
              <a:buClrTx/>
              <a:buSzTx/>
              <a:buNone/>
            </a:pPr>
            <a:endParaRPr lang="en-US" altLang="en-US" sz="1600" b="0" dirty="0">
              <a:latin typeface="+mn-lt"/>
            </a:endParaRPr>
          </a:p>
          <a:p>
            <a:pPr marL="0" indent="0" defTabSz="914400" eaLnBrk="0" fontAlgn="base" hangingPunct="0">
              <a:spcBef>
                <a:spcPct val="0"/>
              </a:spcBef>
              <a:spcAft>
                <a:spcPct val="0"/>
              </a:spcAft>
              <a:buClrTx/>
              <a:buSzTx/>
              <a:buNone/>
            </a:pPr>
            <a:r>
              <a:rPr kumimoji="0" lang="en-US" altLang="en-US" sz="1600" b="1" i="0" u="none" strike="noStrike" cap="none" normalizeH="0" baseline="0" dirty="0">
                <a:ln>
                  <a:noFill/>
                </a:ln>
                <a:effectLst/>
                <a:latin typeface="+mn-lt"/>
              </a:rPr>
              <a:t>Purpose:</a:t>
            </a:r>
          </a:p>
          <a:p>
            <a:pPr marL="0" indent="0" defTabSz="914400" eaLnBrk="0" fontAlgn="base" hangingPunct="0">
              <a:spcBef>
                <a:spcPct val="0"/>
              </a:spcBef>
              <a:spcAft>
                <a:spcPct val="0"/>
              </a:spcAft>
              <a:buClrTx/>
              <a:buSzTx/>
              <a:buNone/>
            </a:pPr>
            <a:r>
              <a:rPr lang="en-IN" sz="1700" dirty="0">
                <a:latin typeface="+mn-lt"/>
              </a:rPr>
              <a:t>The purpose of this KNN model is to predict the type of event (e.g., goal, substitution) that occurs during a game based on match dynamics such as minute, player performance, and team. In simpler terms, it tries to guess what will happen next in a game based on what's happening now and what has happened before.</a:t>
            </a:r>
            <a:endParaRPr kumimoji="0" lang="en-US" altLang="en-US" sz="170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mn-lt"/>
              </a:rPr>
              <a:t>Conclusion</a:t>
            </a:r>
            <a:r>
              <a:rPr lang="en-US" altLang="en-US" sz="1600" b="1" dirty="0">
                <a:latin typeface="+mn-lt"/>
              </a:rPr>
              <a:t>:</a:t>
            </a:r>
          </a:p>
          <a:p>
            <a:pPr marL="0" indent="0" defTabSz="914400" eaLnBrk="0" fontAlgn="base" hangingPunct="0">
              <a:spcBef>
                <a:spcPct val="0"/>
              </a:spcBef>
              <a:spcAft>
                <a:spcPct val="0"/>
              </a:spcAft>
              <a:buClrTx/>
              <a:buSzTx/>
              <a:buNone/>
            </a:pPr>
            <a:r>
              <a:rPr kumimoji="0" lang="en-US" altLang="en-US" sz="1600" i="0" u="none" strike="noStrike" cap="none" normalizeH="0" baseline="0" dirty="0">
                <a:ln>
                  <a:noFill/>
                </a:ln>
                <a:effectLst/>
                <a:latin typeface="+mn-lt"/>
              </a:rPr>
              <a:t>The KNN model is performing well in predicting event types in sports games, with an accuracy of around 86% based on the available data.</a:t>
            </a:r>
            <a:r>
              <a:rPr lang="en-IN" sz="1600" dirty="0">
                <a:latin typeface="+mn-lt"/>
              </a:rPr>
              <a:t> This means that for 86 out of every 100 events, the model correctly predicts the type of event (e.g., goal, substitution). Overall, the KNN model demonstrates promising performance in this task. However, it's important to note that the performance of the model might vary depending on the specific dataset and the complexity of the problem.</a:t>
            </a:r>
            <a:endParaRPr kumimoji="0" lang="en-US" altLang="en-US" sz="1600" b="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None/>
              <a:tabLst/>
            </a:pPr>
            <a:endParaRPr lang="en-US" altLang="en-US" sz="1600" dirty="0">
              <a:latin typeface="+mn-lt"/>
            </a:endParaRPr>
          </a:p>
          <a:p>
            <a:pPr marL="0" marR="0" lvl="0" indent="0"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None/>
              <a:tabLst/>
            </a:pPr>
            <a:endParaRPr lang="en-US" dirty="0">
              <a:latin typeface="+mn-lt"/>
            </a:endParaRPr>
          </a:p>
        </p:txBody>
      </p:sp>
    </p:spTree>
    <p:extLst>
      <p:ext uri="{BB962C8B-B14F-4D97-AF65-F5344CB8AC3E}">
        <p14:creationId xmlns:p14="http://schemas.microsoft.com/office/powerpoint/2010/main" val="185525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AA720-D95E-CE81-9E96-582C5A48350E}"/>
              </a:ext>
            </a:extLst>
          </p:cNvPr>
          <p:cNvSpPr>
            <a:spLocks noGrp="1"/>
          </p:cNvSpPr>
          <p:nvPr>
            <p:ph type="title"/>
          </p:nvPr>
        </p:nvSpPr>
        <p:spPr>
          <a:xfrm>
            <a:off x="646111" y="452718"/>
            <a:ext cx="9412289" cy="801047"/>
          </a:xfrm>
        </p:spPr>
        <p:txBody>
          <a:bodyPr/>
          <a:lstStyle/>
          <a:p>
            <a:r>
              <a:rPr lang="en-IN" sz="1800" b="1" i="0" dirty="0">
                <a:solidFill>
                  <a:schemeClr val="tx1"/>
                </a:solidFill>
                <a:effectLst/>
              </a:rPr>
              <a:t>How do both performance (goals) and non-performance factors (attendance,   name, shirt number) impact a player's market value?</a:t>
            </a:r>
            <a:br>
              <a:rPr lang="en-IN" sz="1800" b="1" i="0" dirty="0">
                <a:effectLst/>
                <a:latin typeface="system-ui"/>
              </a:rPr>
            </a:br>
            <a:endParaRPr lang="en-IN" sz="1800" dirty="0"/>
          </a:p>
        </p:txBody>
      </p:sp>
      <p:sp>
        <p:nvSpPr>
          <p:cNvPr id="3" name="Content Placeholder 2">
            <a:extLst>
              <a:ext uri="{FF2B5EF4-FFF2-40B4-BE49-F238E27FC236}">
                <a16:creationId xmlns:a16="http://schemas.microsoft.com/office/drawing/2014/main" id="{EDD49BE9-7444-4EC1-6400-B8885A4B4D63}"/>
              </a:ext>
            </a:extLst>
          </p:cNvPr>
          <p:cNvSpPr>
            <a:spLocks noGrp="1"/>
          </p:cNvSpPr>
          <p:nvPr>
            <p:ph idx="1"/>
          </p:nvPr>
        </p:nvSpPr>
        <p:spPr>
          <a:xfrm>
            <a:off x="646110" y="1649691"/>
            <a:ext cx="9412289" cy="4626989"/>
          </a:xfrm>
        </p:spPr>
        <p:txBody>
          <a:bodyPr>
            <a:normAutofit/>
          </a:bodyPr>
          <a:lstStyle/>
          <a:p>
            <a:pPr marL="0" indent="0">
              <a:buNone/>
            </a:pPr>
            <a:r>
              <a:rPr lang="en-IN" sz="1600" b="1" dirty="0">
                <a:latin typeface="+mn-lt"/>
              </a:rPr>
              <a:t>Multiple linear regression</a:t>
            </a:r>
            <a:r>
              <a:rPr lang="en-IN" sz="1600" dirty="0">
                <a:latin typeface="+mn-lt"/>
              </a:rPr>
              <a:t> model is being used here.</a:t>
            </a:r>
          </a:p>
          <a:p>
            <a:pPr marL="0" indent="0">
              <a:buNone/>
            </a:pPr>
            <a:r>
              <a:rPr lang="en-IN" sz="1600" b="1" dirty="0">
                <a:latin typeface="+mn-lt"/>
              </a:rPr>
              <a:t>Features selection</a:t>
            </a:r>
            <a:r>
              <a:rPr lang="en-IN" sz="1600" dirty="0">
                <a:latin typeface="+mn-lt"/>
              </a:rPr>
              <a:t>: goals, highest market value in eur , attendance , number</a:t>
            </a:r>
          </a:p>
          <a:p>
            <a:pPr marL="0" indent="0">
              <a:buNone/>
            </a:pPr>
            <a:r>
              <a:rPr lang="en-IN" sz="1600" b="1" dirty="0">
                <a:latin typeface="+mn-lt"/>
              </a:rPr>
              <a:t>Target variable</a:t>
            </a:r>
            <a:r>
              <a:rPr lang="en-IN" sz="1600" dirty="0">
                <a:latin typeface="+mn-lt"/>
              </a:rPr>
              <a:t>: market value in eur</a:t>
            </a:r>
          </a:p>
          <a:p>
            <a:pPr marL="0" indent="0">
              <a:buNone/>
            </a:pPr>
            <a:r>
              <a:rPr lang="en-IN" sz="1600" b="1" dirty="0">
                <a:latin typeface="+mn-lt"/>
              </a:rPr>
              <a:t>Purpose</a:t>
            </a:r>
            <a:r>
              <a:rPr lang="en-IN" sz="1600" dirty="0">
                <a:latin typeface="+mn-lt"/>
              </a:rPr>
              <a:t>:</a:t>
            </a:r>
          </a:p>
          <a:p>
            <a:pPr marL="0" indent="0">
              <a:buNone/>
            </a:pPr>
            <a:r>
              <a:rPr lang="en-IN" sz="1600" dirty="0">
                <a:latin typeface="+mn-lt"/>
              </a:rPr>
              <a:t>The model is trying to predict a player's market value based on factors like how many goals they've scored, how many people watch their games, and even their name and shirt number. It's like trying to figure out how these things together affect how much a team would be willing to pay for that player.</a:t>
            </a:r>
          </a:p>
          <a:p>
            <a:pPr marL="0" indent="0">
              <a:buNone/>
            </a:pPr>
            <a:r>
              <a:rPr lang="en-IN" sz="1600" b="1" dirty="0">
                <a:latin typeface="+mn-lt"/>
              </a:rPr>
              <a:t>Conclusion </a:t>
            </a:r>
            <a:r>
              <a:rPr lang="en-IN" sz="1600" dirty="0">
                <a:latin typeface="+mn-lt"/>
              </a:rPr>
              <a:t>:</a:t>
            </a:r>
            <a:r>
              <a:rPr lang="en-IN" sz="1600" b="1" dirty="0">
                <a:latin typeface="+mn-lt"/>
              </a:rPr>
              <a:t> </a:t>
            </a:r>
          </a:p>
          <a:p>
            <a:pPr marL="0" indent="0">
              <a:buNone/>
            </a:pPr>
            <a:r>
              <a:rPr lang="en-IN" sz="1600" dirty="0">
                <a:latin typeface="+mn-lt"/>
              </a:rPr>
              <a:t>Overall, the scores suggest that the model is doing a pretty good job of predicting player market values based on the factors considered. It can explain a significant portion of the variation in market value and is making reasonably accurate predictions. However, there's always room for improvement, and you might consider adding more factors or trying a different model to see if you can get even better results.</a:t>
            </a:r>
          </a:p>
        </p:txBody>
      </p:sp>
    </p:spTree>
    <p:extLst>
      <p:ext uri="{BB962C8B-B14F-4D97-AF65-F5344CB8AC3E}">
        <p14:creationId xmlns:p14="http://schemas.microsoft.com/office/powerpoint/2010/main" val="2755474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44261-8C72-D657-1DAA-F53541A39C96}"/>
              </a:ext>
            </a:extLst>
          </p:cNvPr>
          <p:cNvSpPr>
            <a:spLocks noGrp="1"/>
          </p:cNvSpPr>
          <p:nvPr>
            <p:ph type="title"/>
          </p:nvPr>
        </p:nvSpPr>
        <p:spPr>
          <a:xfrm>
            <a:off x="645131" y="221529"/>
            <a:ext cx="9404723" cy="966247"/>
          </a:xfrm>
        </p:spPr>
        <p:txBody>
          <a:bodyPr/>
          <a:lstStyle/>
          <a:p>
            <a:r>
              <a:rPr lang="en-IN" sz="1800" b="1" i="0" dirty="0">
                <a:effectLst/>
              </a:rPr>
              <a:t>Question: Can we group players based on their performance metrics such as goals scored, assists, and minutes played?</a:t>
            </a:r>
            <a:br>
              <a:rPr lang="en-IN" sz="1800" b="1" i="0" dirty="0">
                <a:effectLst/>
                <a:latin typeface="system-ui"/>
              </a:rPr>
            </a:br>
            <a:endParaRPr lang="en-IN" sz="1800" dirty="0"/>
          </a:p>
        </p:txBody>
      </p:sp>
      <p:sp>
        <p:nvSpPr>
          <p:cNvPr id="3" name="Content Placeholder 2">
            <a:extLst>
              <a:ext uri="{FF2B5EF4-FFF2-40B4-BE49-F238E27FC236}">
                <a16:creationId xmlns:a16="http://schemas.microsoft.com/office/drawing/2014/main" id="{8526EC1C-7562-AE90-0EA9-1545828EAC3E}"/>
              </a:ext>
            </a:extLst>
          </p:cNvPr>
          <p:cNvSpPr>
            <a:spLocks noGrp="1"/>
          </p:cNvSpPr>
          <p:nvPr>
            <p:ph idx="1"/>
          </p:nvPr>
        </p:nvSpPr>
        <p:spPr>
          <a:xfrm>
            <a:off x="645131" y="1385740"/>
            <a:ext cx="9404722" cy="5250730"/>
          </a:xfrm>
        </p:spPr>
        <p:txBody>
          <a:bodyPr>
            <a:normAutofit/>
          </a:bodyPr>
          <a:lstStyle/>
          <a:p>
            <a:pPr marL="0" indent="0">
              <a:buNone/>
            </a:pPr>
            <a:r>
              <a:rPr lang="en-IN" sz="1600" b="1" dirty="0">
                <a:latin typeface="+mn-lt"/>
              </a:rPr>
              <a:t>K-means </a:t>
            </a:r>
            <a:r>
              <a:rPr lang="en-IN" sz="1600" dirty="0">
                <a:latin typeface="+mn-lt"/>
              </a:rPr>
              <a:t>model is being used here.</a:t>
            </a:r>
          </a:p>
          <a:p>
            <a:pPr marL="0" indent="0">
              <a:buNone/>
            </a:pPr>
            <a:r>
              <a:rPr lang="en-IN" sz="1600" dirty="0">
                <a:latin typeface="+mn-lt"/>
              </a:rPr>
              <a:t>The columns I have used in this model to predict is goals, assists, minutes played.</a:t>
            </a:r>
          </a:p>
          <a:p>
            <a:pPr marL="0" indent="0">
              <a:buNone/>
            </a:pPr>
            <a:r>
              <a:rPr lang="en-IN" sz="1600" b="1" dirty="0">
                <a:latin typeface="+mn-lt"/>
              </a:rPr>
              <a:t>Purpose :</a:t>
            </a:r>
          </a:p>
          <a:p>
            <a:pPr marL="0" indent="0">
              <a:buNone/>
            </a:pPr>
            <a:r>
              <a:rPr lang="en-IN" sz="1600" dirty="0">
                <a:latin typeface="+mn-lt"/>
              </a:rPr>
              <a:t>The purpose of the K-means clustering model you provided is to group football players based on their performance metrics. It helps to identify different types of players based on how they play.</a:t>
            </a:r>
          </a:p>
          <a:p>
            <a:pPr marL="0" indent="0">
              <a:buNone/>
            </a:pPr>
            <a:r>
              <a:rPr lang="en-IN" sz="1600" dirty="0">
                <a:latin typeface="+mn-lt"/>
              </a:rPr>
              <a:t>Imagine you have a bunch of football players. You want to sort them into different teams based on how well they play. The K-means model can help you do this by looking at their goals, assists, and minutes played. It will group players together who have similar playing styles.</a:t>
            </a:r>
          </a:p>
          <a:p>
            <a:pPr marL="0" indent="0">
              <a:buNone/>
            </a:pPr>
            <a:r>
              <a:rPr lang="en-IN" sz="1600" dirty="0">
                <a:latin typeface="+mn-lt"/>
              </a:rPr>
              <a:t>This can be useful for coaches and teams to understand the strengths and weaknesses of different players and to strategize accordingly.</a:t>
            </a:r>
          </a:p>
          <a:p>
            <a:pPr marL="0" indent="0">
              <a:buNone/>
            </a:pPr>
            <a:r>
              <a:rPr lang="en-IN" sz="1600" b="1" dirty="0">
                <a:latin typeface="+mn-lt"/>
              </a:rPr>
              <a:t>Conclusion :</a:t>
            </a:r>
          </a:p>
          <a:p>
            <a:pPr marL="0" indent="0">
              <a:buNone/>
            </a:pPr>
            <a:r>
              <a:rPr lang="en-IN" sz="1600" dirty="0"/>
              <a:t>Overall, the K-means model demonstrated its ability to provide valuable insights into player groupings and can be used for further analysis and decision-making in the context of basketball performance.</a:t>
            </a:r>
            <a:endParaRPr lang="en-IN" sz="1600" dirty="0">
              <a:latin typeface="+mn-lt"/>
            </a:endParaRPr>
          </a:p>
          <a:p>
            <a:pPr marL="0" indent="0">
              <a:buNone/>
            </a:pPr>
            <a:endParaRPr lang="en-IN" sz="1600" dirty="0">
              <a:latin typeface="+mn-lt"/>
            </a:endParaRPr>
          </a:p>
        </p:txBody>
      </p:sp>
    </p:spTree>
    <p:extLst>
      <p:ext uri="{BB962C8B-B14F-4D97-AF65-F5344CB8AC3E}">
        <p14:creationId xmlns:p14="http://schemas.microsoft.com/office/powerpoint/2010/main" val="3647405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EA42-CF7B-6A42-8D70-FAA53FE31FBA}"/>
              </a:ext>
            </a:extLst>
          </p:cNvPr>
          <p:cNvSpPr>
            <a:spLocks noGrp="1"/>
          </p:cNvSpPr>
          <p:nvPr>
            <p:ph type="title"/>
          </p:nvPr>
        </p:nvSpPr>
        <p:spPr>
          <a:xfrm>
            <a:off x="646111" y="127261"/>
            <a:ext cx="9404723" cy="452255"/>
          </a:xfrm>
        </p:spPr>
        <p:txBody>
          <a:bodyPr/>
          <a:lstStyle/>
          <a:p>
            <a:r>
              <a:rPr lang="en-IN" sz="2000" b="1" dirty="0"/>
              <a:t>Summary of the Football Data Capstone Project</a:t>
            </a:r>
            <a:br>
              <a:rPr lang="en-IN" b="1" dirty="0"/>
            </a:br>
            <a:endParaRPr lang="en-IN" dirty="0"/>
          </a:p>
        </p:txBody>
      </p:sp>
      <p:sp>
        <p:nvSpPr>
          <p:cNvPr id="3" name="Content Placeholder 2">
            <a:extLst>
              <a:ext uri="{FF2B5EF4-FFF2-40B4-BE49-F238E27FC236}">
                <a16:creationId xmlns:a16="http://schemas.microsoft.com/office/drawing/2014/main" id="{E56A2D44-F326-D835-3ECF-CEA927F7DF91}"/>
              </a:ext>
            </a:extLst>
          </p:cNvPr>
          <p:cNvSpPr>
            <a:spLocks noGrp="1"/>
          </p:cNvSpPr>
          <p:nvPr>
            <p:ph idx="1"/>
          </p:nvPr>
        </p:nvSpPr>
        <p:spPr>
          <a:xfrm>
            <a:off x="646112" y="1541049"/>
            <a:ext cx="9497130" cy="4331850"/>
          </a:xfrm>
        </p:spPr>
        <p:txBody>
          <a:bodyPr>
            <a:noAutofit/>
          </a:bodyPr>
          <a:lstStyle/>
          <a:p>
            <a:r>
              <a:rPr lang="en-IN" sz="1600" dirty="0"/>
              <a:t>This project aims to analyze various aspects of football using data-driven models to improve decision-making for teams, coaches, and analysts. Key areas explored include:</a:t>
            </a:r>
          </a:p>
          <a:p>
            <a:pPr marL="0" indent="0">
              <a:buNone/>
            </a:pPr>
            <a:r>
              <a:rPr lang="en-IN" sz="1600" b="1" dirty="0"/>
              <a:t>Performance Analysis</a:t>
            </a:r>
            <a:r>
              <a:rPr lang="en-IN" sz="1600" dirty="0"/>
              <a:t>: Tracking key performance metrics such as goals and match attendance to improve team performance.</a:t>
            </a:r>
          </a:p>
          <a:p>
            <a:pPr marL="0" indent="0">
              <a:buNone/>
            </a:pPr>
            <a:r>
              <a:rPr lang="en-IN" sz="1600" b="1" dirty="0"/>
              <a:t>Player Profile and Market Value</a:t>
            </a:r>
            <a:r>
              <a:rPr lang="en-IN" sz="1600" dirty="0"/>
              <a:t>: Understanding factors like nationality, position, and team association that influence a player's market value.</a:t>
            </a:r>
          </a:p>
          <a:p>
            <a:pPr marL="0" indent="0">
              <a:buNone/>
            </a:pPr>
            <a:r>
              <a:rPr lang="en-IN" sz="1600" b="1" dirty="0"/>
              <a:t>Team Comparison</a:t>
            </a:r>
            <a:r>
              <a:rPr lang="en-IN" sz="1600" dirty="0"/>
              <a:t>: Comparing teams' goal-scoring patterns and financial metrics to help with team-building and strategy planning.</a:t>
            </a:r>
          </a:p>
          <a:p>
            <a:pPr marL="0" indent="0">
              <a:buNone/>
            </a:pPr>
            <a:r>
              <a:rPr lang="en-IN" sz="1600" b="1" dirty="0"/>
              <a:t>Attendance and Stadium Analysis</a:t>
            </a:r>
            <a:r>
              <a:rPr lang="en-IN" sz="1600" dirty="0"/>
              <a:t>: Analyzing the relationship between stadium attendance and home team performance to improve fan engagement.</a:t>
            </a:r>
          </a:p>
          <a:p>
            <a:pPr marL="0" indent="0">
              <a:buNone/>
            </a:pPr>
            <a:r>
              <a:rPr lang="en-IN" sz="1600" b="1" dirty="0"/>
              <a:t>Referee Analysis</a:t>
            </a:r>
            <a:r>
              <a:rPr lang="en-IN" sz="1600" dirty="0"/>
              <a:t>: Studying the influence of referees on match outcomes, including disciplinary actions like yellow and red cards.</a:t>
            </a:r>
          </a:p>
          <a:p>
            <a:pPr marL="0" indent="0">
              <a:buNone/>
            </a:pPr>
            <a:r>
              <a:rPr lang="en-IN" sz="1600" b="1" dirty="0"/>
              <a:t>Substitution Patterns</a:t>
            </a:r>
            <a:r>
              <a:rPr lang="en-IN" sz="1600" dirty="0"/>
              <a:t>: Analyzing the impact of player substitutions on match outcomes to optimize in-game decisions.</a:t>
            </a:r>
          </a:p>
        </p:txBody>
      </p:sp>
    </p:spTree>
    <p:extLst>
      <p:ext uri="{BB962C8B-B14F-4D97-AF65-F5344CB8AC3E}">
        <p14:creationId xmlns:p14="http://schemas.microsoft.com/office/powerpoint/2010/main" val="3806679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24B95D-EDDE-2561-1FF0-A6CB17B88B51}"/>
              </a:ext>
            </a:extLst>
          </p:cNvPr>
          <p:cNvSpPr>
            <a:spLocks noGrp="1"/>
          </p:cNvSpPr>
          <p:nvPr>
            <p:ph idx="1"/>
          </p:nvPr>
        </p:nvSpPr>
        <p:spPr>
          <a:xfrm>
            <a:off x="1103312" y="527902"/>
            <a:ext cx="8946541" cy="5720498"/>
          </a:xfrm>
        </p:spPr>
        <p:txBody>
          <a:bodyPr>
            <a:normAutofit/>
          </a:bodyPr>
          <a:lstStyle/>
          <a:p>
            <a:pPr marL="0" indent="0">
              <a:buNone/>
            </a:pPr>
            <a:r>
              <a:rPr lang="en-IN" sz="1600" b="1" dirty="0"/>
              <a:t>Event Analysis</a:t>
            </a:r>
            <a:r>
              <a:rPr lang="en-IN" sz="1600" dirty="0"/>
              <a:t>: Examining the occurrence of match events such as goals, fouls, and corners to identify winning strategies.</a:t>
            </a:r>
          </a:p>
          <a:p>
            <a:pPr marL="0" indent="0">
              <a:buNone/>
            </a:pPr>
            <a:r>
              <a:rPr lang="en-IN" sz="1600" b="1" dirty="0"/>
              <a:t>Competition Analysis</a:t>
            </a:r>
            <a:r>
              <a:rPr lang="en-IN" sz="1600" dirty="0"/>
              <a:t>: Assessing team performance across different competitions to help teams strategize for different levels of competition.</a:t>
            </a:r>
          </a:p>
          <a:p>
            <a:pPr marL="0" indent="0">
              <a:buNone/>
            </a:pPr>
            <a:r>
              <a:rPr lang="en-IN" sz="1600" b="1" dirty="0"/>
              <a:t>Player Attributes and Demographics</a:t>
            </a:r>
            <a:r>
              <a:rPr lang="en-IN" sz="1600" dirty="0"/>
              <a:t>: Understanding how player characteristics like age, nationality, and playing position influence their market value and performance.</a:t>
            </a:r>
          </a:p>
          <a:p>
            <a:pPr marL="0" indent="0">
              <a:buNone/>
            </a:pPr>
            <a:r>
              <a:rPr lang="en-IN" sz="1600" b="1" dirty="0"/>
              <a:t>Contract Management</a:t>
            </a:r>
            <a:r>
              <a:rPr lang="en-IN" sz="1600" dirty="0"/>
              <a:t>: Managing player contracts by analyzing performance trends and contract timelines to avoid financial over-commitment.</a:t>
            </a:r>
          </a:p>
          <a:p>
            <a:r>
              <a:rPr lang="en-IN" sz="1600" dirty="0"/>
              <a:t>The project used various models to predict specific outcomes:</a:t>
            </a:r>
          </a:p>
          <a:p>
            <a:pPr>
              <a:buFont typeface="+mj-lt"/>
              <a:buAutoNum type="arabicPeriod"/>
            </a:pPr>
            <a:r>
              <a:rPr lang="en-IN" sz="1600" b="1" dirty="0"/>
              <a:t>Logistic Regression</a:t>
            </a:r>
            <a:r>
              <a:rPr lang="en-IN" sz="1600" dirty="0"/>
              <a:t> to predict whether a player is the team captain based on their position, minutes played, and market value.</a:t>
            </a:r>
          </a:p>
          <a:p>
            <a:pPr>
              <a:buFont typeface="+mj-lt"/>
              <a:buAutoNum type="arabicPeriod"/>
            </a:pPr>
            <a:r>
              <a:rPr lang="en-IN" sz="1600" b="1" dirty="0"/>
              <a:t>K-Nearest Neighbors (KNN)</a:t>
            </a:r>
            <a:r>
              <a:rPr lang="en-IN" sz="1600" dirty="0"/>
              <a:t> to predict different event types (e.g., goals, substitutions) based on match dynamics.</a:t>
            </a:r>
          </a:p>
          <a:p>
            <a:pPr>
              <a:buFont typeface="+mj-lt"/>
              <a:buAutoNum type="arabicPeriod"/>
            </a:pPr>
            <a:r>
              <a:rPr lang="en-IN" sz="1600" b="1" dirty="0"/>
              <a:t>Multiple Linear Regression</a:t>
            </a:r>
            <a:r>
              <a:rPr lang="en-IN" sz="1600" dirty="0"/>
              <a:t> to estimate a player’s market value based on performance and attendance.</a:t>
            </a:r>
          </a:p>
          <a:p>
            <a:pPr>
              <a:buFont typeface="+mj-lt"/>
              <a:buAutoNum type="arabicPeriod"/>
            </a:pPr>
            <a:r>
              <a:rPr lang="en-IN" sz="1600" b="1" dirty="0"/>
              <a:t>K-Means Clustering</a:t>
            </a:r>
            <a:r>
              <a:rPr lang="en-IN" sz="1600" dirty="0"/>
              <a:t> to group players by their performance metrics like goals, assists, and minutes played.</a:t>
            </a:r>
          </a:p>
          <a:p>
            <a:endParaRPr lang="en-IN" dirty="0"/>
          </a:p>
        </p:txBody>
      </p:sp>
    </p:spTree>
    <p:extLst>
      <p:ext uri="{BB962C8B-B14F-4D97-AF65-F5344CB8AC3E}">
        <p14:creationId xmlns:p14="http://schemas.microsoft.com/office/powerpoint/2010/main" val="2830873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93A75-E566-1799-EAFF-0E6A3BF89FBA}"/>
              </a:ext>
            </a:extLst>
          </p:cNvPr>
          <p:cNvSpPr>
            <a:spLocks noGrp="1"/>
          </p:cNvSpPr>
          <p:nvPr>
            <p:ph type="title"/>
          </p:nvPr>
        </p:nvSpPr>
        <p:spPr>
          <a:xfrm>
            <a:off x="646111" y="452718"/>
            <a:ext cx="9404723" cy="716206"/>
          </a:xfrm>
        </p:spPr>
        <p:txBody>
          <a:bodyPr/>
          <a:lstStyle/>
          <a:p>
            <a:r>
              <a:rPr lang="en-IN" b="1" dirty="0"/>
              <a:t>Conclusion</a:t>
            </a:r>
            <a:br>
              <a:rPr lang="en-IN" b="1" dirty="0"/>
            </a:br>
            <a:endParaRPr lang="en-IN" dirty="0"/>
          </a:p>
        </p:txBody>
      </p:sp>
      <p:sp>
        <p:nvSpPr>
          <p:cNvPr id="3" name="Content Placeholder 2">
            <a:extLst>
              <a:ext uri="{FF2B5EF4-FFF2-40B4-BE49-F238E27FC236}">
                <a16:creationId xmlns:a16="http://schemas.microsoft.com/office/drawing/2014/main" id="{CC4A29D1-79C6-A9B5-9C8F-2EB7210063E9}"/>
              </a:ext>
            </a:extLst>
          </p:cNvPr>
          <p:cNvSpPr>
            <a:spLocks noGrp="1"/>
          </p:cNvSpPr>
          <p:nvPr>
            <p:ph idx="1"/>
          </p:nvPr>
        </p:nvSpPr>
        <p:spPr>
          <a:xfrm>
            <a:off x="645132" y="2052918"/>
            <a:ext cx="9404722" cy="4195481"/>
          </a:xfrm>
        </p:spPr>
        <p:txBody>
          <a:bodyPr>
            <a:normAutofit/>
          </a:bodyPr>
          <a:lstStyle/>
          <a:p>
            <a:pPr marL="0" indent="0" algn="just">
              <a:buNone/>
            </a:pPr>
            <a:r>
              <a:rPr lang="en-IN" sz="1800" dirty="0"/>
              <a:t>The project successfully demonstrated the power of data analytics in football. By using statistical models, various aspects of the game, such as predicting team captains, event types, and player market value, were analyzed effectively. The models provided insights that can assist football teams in player acquisition, performance improvement, and strategic decision-making. However, the performance of the models can be improved by adding more features or experimenting with alternative algorithms, which could lead to more accurate predictions and deeper insights into the game.</a:t>
            </a:r>
          </a:p>
          <a:p>
            <a:pPr marL="0" indent="0" algn="just">
              <a:buNone/>
            </a:pPr>
            <a:endParaRPr lang="en-IN" sz="1800" dirty="0"/>
          </a:p>
        </p:txBody>
      </p:sp>
    </p:spTree>
    <p:extLst>
      <p:ext uri="{BB962C8B-B14F-4D97-AF65-F5344CB8AC3E}">
        <p14:creationId xmlns:p14="http://schemas.microsoft.com/office/powerpoint/2010/main" val="4153590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AA03F-A7FC-547A-8B5B-736230C5C947}"/>
              </a:ext>
            </a:extLst>
          </p:cNvPr>
          <p:cNvSpPr>
            <a:spLocks noGrp="1"/>
          </p:cNvSpPr>
          <p:nvPr>
            <p:ph type="title"/>
          </p:nvPr>
        </p:nvSpPr>
        <p:spPr>
          <a:xfrm>
            <a:off x="1393638" y="3261906"/>
            <a:ext cx="9404723" cy="1400530"/>
          </a:xfrm>
        </p:spPr>
        <p:txBody>
          <a:bodyPr/>
          <a:lstStyle/>
          <a:p>
            <a:pPr algn="ctr"/>
            <a:r>
              <a:rPr lang="en-IN" dirty="0"/>
              <a:t>THANK YOU</a:t>
            </a:r>
            <a:br>
              <a:rPr lang="en-IN" dirty="0"/>
            </a:br>
            <a:endParaRPr lang="en-IN" dirty="0"/>
          </a:p>
        </p:txBody>
      </p:sp>
    </p:spTree>
    <p:extLst>
      <p:ext uri="{BB962C8B-B14F-4D97-AF65-F5344CB8AC3E}">
        <p14:creationId xmlns:p14="http://schemas.microsoft.com/office/powerpoint/2010/main" val="1883099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427</TotalTime>
  <Words>1786</Words>
  <Application>Microsoft Office PowerPoint</Application>
  <PresentationFormat>Widescreen</PresentationFormat>
  <Paragraphs>94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Century Gothic</vt:lpstr>
      <vt:lpstr>system-ui</vt:lpstr>
      <vt:lpstr>Wingdings 3</vt:lpstr>
      <vt:lpstr>Ion</vt:lpstr>
      <vt:lpstr>Capstone Project on Football data </vt:lpstr>
      <vt:lpstr>PowerPoint Presentation</vt:lpstr>
      <vt:lpstr>PowerPoint Presentation</vt:lpstr>
      <vt:lpstr>Problem Statement of the Football Data Capstone Project </vt:lpstr>
      <vt:lpstr>Tools used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 Can we predict whether a player is the team captain based on their playing position, number of minutes played, and market value? </vt:lpstr>
      <vt:lpstr>Can we predict the type of event (e.g., goal, substitution) that occurs during a game based on match dynamics such as minute, player performance, and team? </vt:lpstr>
      <vt:lpstr>How do both performance (goals) and non-performance factors (attendance,   name, shirt number) impact a player's market value? </vt:lpstr>
      <vt:lpstr>Question: Can we group players based on their performance metrics such as goals scored, assists, and minutes played? </vt:lpstr>
      <vt:lpstr>Summary of the Football Data Capstone Project </vt:lpstr>
      <vt:lpstr>PowerPoint Presentation</vt:lpstr>
      <vt:lpstr>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Divyam Kandpal</dc:creator>
  <cp:lastModifiedBy>Divyam Kandpal</cp:lastModifiedBy>
  <cp:revision>5</cp:revision>
  <dcterms:created xsi:type="dcterms:W3CDTF">2024-09-20T17:03:26Z</dcterms:created>
  <dcterms:modified xsi:type="dcterms:W3CDTF">2024-09-23T11:06:18Z</dcterms:modified>
</cp:coreProperties>
</file>